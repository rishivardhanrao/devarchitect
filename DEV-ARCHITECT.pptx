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alibri (MS) Bold" charset="1" panose="020F0702030404030204"/>
      <p:regular r:id="rId25"/>
    </p:embeddedFont>
    <p:embeddedFont>
      <p:font typeface="Calibri (MS) Bold Italics" charset="1" panose="020F07020304040A0204"/>
      <p:regular r:id="rId26"/>
    </p:embeddedFont>
    <p:embeddedFont>
      <p:font typeface="Arial" charset="1" panose="020B0604020202020204"/>
      <p:regular r:id="rId30"/>
    </p:embeddedFont>
    <p:embeddedFont>
      <p:font typeface="Arimo" charset="1" panose="020B0604020202020204"/>
      <p:regular r:id="rId31"/>
    </p:embeddedFont>
    <p:embeddedFont>
      <p:font typeface="Arial Bold" charset="1" panose="020B0704020202020204"/>
      <p:regular r:id="rId32"/>
    </p:embeddedFont>
    <p:embeddedFont>
      <p:font typeface="Times New Roman Bold" charset="1" panose="02020803070505020304"/>
      <p:regular r:id="rId33"/>
    </p:embeddedFont>
    <p:embeddedFont>
      <p:font typeface="Times New Roman" charset="1" panose="020206030504050203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fonts/font41.fntdata" Type="http://schemas.openxmlformats.org/officeDocument/2006/relationships/font"/><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2.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775" y="2564606"/>
            <a:ext cx="15773400" cy="4279106"/>
            <a:chOff x="0" y="0"/>
            <a:chExt cx="21031200" cy="5705475"/>
          </a:xfrm>
        </p:grpSpPr>
        <p:sp>
          <p:nvSpPr>
            <p:cNvPr name="Freeform 3" id="3"/>
            <p:cNvSpPr/>
            <p:nvPr/>
          </p:nvSpPr>
          <p:spPr>
            <a:xfrm flipH="false" flipV="false" rot="0">
              <a:off x="0" y="0"/>
              <a:ext cx="21031200" cy="5705475"/>
            </a:xfrm>
            <a:custGeom>
              <a:avLst/>
              <a:gdLst/>
              <a:ahLst/>
              <a:cxnLst/>
              <a:rect r="r" b="b" t="t" l="l"/>
              <a:pathLst>
                <a:path h="5705475" w="21031200">
                  <a:moveTo>
                    <a:pt x="0" y="0"/>
                  </a:moveTo>
                  <a:lnTo>
                    <a:pt x="21031200" y="0"/>
                  </a:lnTo>
                  <a:lnTo>
                    <a:pt x="21031200" y="5705475"/>
                  </a:lnTo>
                  <a:lnTo>
                    <a:pt x="0" y="5705475"/>
                  </a:lnTo>
                  <a:close/>
                </a:path>
              </a:pathLst>
            </a:custGeom>
            <a:blipFill>
              <a:blip r:embed="rId2">
                <a:alphaModFix amt="0"/>
              </a:blip>
              <a:stretch>
                <a:fillRect l="0" t="-21774" r="0" b="-21774"/>
              </a:stretch>
            </a:blipFill>
          </p:spPr>
        </p:sp>
      </p:grpSp>
      <p:grpSp>
        <p:nvGrpSpPr>
          <p:cNvPr name="Group 4" id="4"/>
          <p:cNvGrpSpPr/>
          <p:nvPr/>
        </p:nvGrpSpPr>
        <p:grpSpPr>
          <a:xfrm rot="0">
            <a:off x="1247775" y="2493169"/>
            <a:ext cx="15773400" cy="4350544"/>
            <a:chOff x="0" y="0"/>
            <a:chExt cx="21031200" cy="5800725"/>
          </a:xfrm>
        </p:grpSpPr>
        <p:sp>
          <p:nvSpPr>
            <p:cNvPr name="Freeform 5" id="5"/>
            <p:cNvSpPr/>
            <p:nvPr/>
          </p:nvSpPr>
          <p:spPr>
            <a:xfrm flipH="false" flipV="false" rot="0">
              <a:off x="0" y="0"/>
              <a:ext cx="21031200" cy="5800725"/>
            </a:xfrm>
            <a:custGeom>
              <a:avLst/>
              <a:gdLst/>
              <a:ahLst/>
              <a:cxnLst/>
              <a:rect r="r" b="b" t="t" l="l"/>
              <a:pathLst>
                <a:path h="5800725" w="21031200">
                  <a:moveTo>
                    <a:pt x="0" y="0"/>
                  </a:moveTo>
                  <a:lnTo>
                    <a:pt x="21031200" y="0"/>
                  </a:lnTo>
                  <a:lnTo>
                    <a:pt x="21031200" y="5800725"/>
                  </a:lnTo>
                  <a:lnTo>
                    <a:pt x="0" y="5800725"/>
                  </a:lnTo>
                  <a:close/>
                </a:path>
              </a:pathLst>
            </a:custGeom>
            <a:blipFill>
              <a:blip r:embed="rId3">
                <a:alphaModFix amt="0"/>
              </a:blip>
              <a:stretch>
                <a:fillRect l="0" t="-20645" r="0" b="-20645"/>
              </a:stretch>
            </a:blipFill>
          </p:spPr>
        </p:sp>
        <p:sp>
          <p:nvSpPr>
            <p:cNvPr name="TextBox 6" id="6"/>
            <p:cNvSpPr txBox="true"/>
            <p:nvPr/>
          </p:nvSpPr>
          <p:spPr>
            <a:xfrm>
              <a:off x="0" y="-95250"/>
              <a:ext cx="21031200" cy="5895975"/>
            </a:xfrm>
            <a:prstGeom prst="rect">
              <a:avLst/>
            </a:prstGeom>
          </p:spPr>
          <p:txBody>
            <a:bodyPr anchor="b" rtlCol="false" tIns="0" lIns="0" bIns="0" rIns="0"/>
            <a:lstStyle/>
            <a:p>
              <a:pPr algn="ctr">
                <a:lnSpc>
                  <a:spcPts val="10692"/>
                </a:lnSpc>
              </a:pPr>
              <a:r>
                <a:rPr lang="en-US" sz="9900" b="true">
                  <a:solidFill>
                    <a:srgbClr val="000000"/>
                  </a:solidFill>
                  <a:latin typeface="Calibri (MS) Bold"/>
                  <a:ea typeface="Calibri (MS) Bold"/>
                  <a:cs typeface="Calibri (MS) Bold"/>
                  <a:sym typeface="Calibri (MS) Bold"/>
                </a:rPr>
                <a:t>IBM University Engagement Project Submission</a:t>
              </a:r>
            </a:p>
            <a:p>
              <a:pPr algn="ctr">
                <a:lnSpc>
                  <a:spcPts val="10692"/>
                </a:lnSpc>
              </a:pPr>
            </a:p>
          </p:txBody>
        </p:sp>
      </p:grpSp>
      <p:sp>
        <p:nvSpPr>
          <p:cNvPr name="TextBox 7" id="7"/>
          <p:cNvSpPr txBox="true"/>
          <p:nvPr/>
        </p:nvSpPr>
        <p:spPr>
          <a:xfrm rot="0">
            <a:off x="1613516" y="5863095"/>
            <a:ext cx="15590549" cy="2196979"/>
          </a:xfrm>
          <a:prstGeom prst="rect">
            <a:avLst/>
          </a:prstGeom>
        </p:spPr>
        <p:txBody>
          <a:bodyPr anchor="t" rtlCol="false" tIns="0" lIns="0" bIns="0" rIns="0">
            <a:spAutoFit/>
          </a:bodyPr>
          <a:lstStyle/>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“Exploring the Power of Agentic AI with IBM Granite and IBM Bob”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030673" y="3915601"/>
          <a:ext cx="14020800" cy="3225800"/>
        </p:xfrm>
        <a:graphic>
          <a:graphicData uri="http://schemas.openxmlformats.org/drawingml/2006/table">
            <a:tbl>
              <a:tblPr/>
              <a:tblGrid>
                <a:gridCol w="3089085"/>
                <a:gridCol w="3643905"/>
                <a:gridCol w="3643905"/>
                <a:gridCol w="3643905"/>
              </a:tblGrid>
              <a:tr h="1460803">
                <a:tc>
                  <a:txBody>
                    <a:bodyPr anchor="t" rtlCol="false"/>
                    <a:lstStyle/>
                    <a:p>
                      <a:pPr algn="ctr">
                        <a:lnSpc>
                          <a:spcPts val="3240"/>
                        </a:lnSpc>
                        <a:defRPr/>
                      </a:pPr>
                      <a:r>
                        <a:rPr lang="en-US" sz="2700">
                          <a:solidFill>
                            <a:srgbClr val="000000"/>
                          </a:solidFill>
                          <a:latin typeface="Arial"/>
                          <a:ea typeface="Arial"/>
                          <a:cs typeface="Arial"/>
                          <a:sym typeface="Arial"/>
                        </a:rPr>
                        <a:t>Student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Mobile number</a:t>
                      </a:r>
                      <a:endParaRPr lang="en-US" sz="1100"/>
                    </a:p>
                    <a:p>
                      <a:pPr algn="ctr">
                        <a:lnSpc>
                          <a:spcPts val="3240"/>
                        </a:lnSpc>
                      </a:pPr>
                      <a:r>
                        <a:rPr lang="en-US" sz="2700">
                          <a:solidFill>
                            <a:srgbClr val="000000"/>
                          </a:solidFill>
                          <a:latin typeface="Arial"/>
                          <a:ea typeface="Arial"/>
                          <a:cs typeface="Arial"/>
                          <a:sym typeface="Arial"/>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764997">
                <a:tc>
                  <a:txBody>
                    <a:bodyPr anchor="t" rtlCol="false"/>
                    <a:lstStyle/>
                    <a:p>
                      <a:pPr algn="l">
                        <a:lnSpc>
                          <a:spcPts val="2799"/>
                        </a:lnSpc>
                        <a:defRPr/>
                      </a:pPr>
                      <a:r>
                        <a:rPr lang="en-US" sz="1999">
                          <a:solidFill>
                            <a:srgbClr val="000000"/>
                          </a:solidFill>
                          <a:latin typeface="Arimo"/>
                          <a:ea typeface="Arimo"/>
                          <a:cs typeface="Arimo"/>
                          <a:sym typeface="Arimo"/>
                        </a:rPr>
                        <a:t>N RISHI VARDHAN RAO</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800"/>
                        </a:lnSpc>
                        <a:defRPr/>
                      </a:pPr>
                      <a:r>
                        <a:rPr lang="en-US" sz="2000">
                          <a:solidFill>
                            <a:srgbClr val="000000"/>
                          </a:solidFill>
                          <a:latin typeface="Arimo"/>
                          <a:ea typeface="Arimo"/>
                          <a:cs typeface="Arimo"/>
                          <a:sym typeface="Arimo"/>
                        </a:rPr>
                        <a:t>rishivardhanraonadava@gmail.com</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800"/>
                        </a:lnSpc>
                        <a:defRPr/>
                      </a:pPr>
                      <a:r>
                        <a:rPr lang="en-US" sz="2000">
                          <a:solidFill>
                            <a:srgbClr val="000000"/>
                          </a:solidFill>
                          <a:latin typeface="Arimo"/>
                          <a:ea typeface="Arimo"/>
                          <a:cs typeface="Arimo"/>
                          <a:sym typeface="Arimo"/>
                        </a:rPr>
                        <a:t>9110599614</a:t>
                      </a: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sp>
        <p:nvSpPr>
          <p:cNvPr name="Freeform 3" id="3"/>
          <p:cNvSpPr/>
          <p:nvPr/>
        </p:nvSpPr>
        <p:spPr>
          <a:xfrm flipH="false" flipV="false" rot="0">
            <a:off x="6049923" y="5528501"/>
            <a:ext cx="1383930" cy="1449148"/>
          </a:xfrm>
          <a:custGeom>
            <a:avLst/>
            <a:gdLst/>
            <a:ahLst/>
            <a:cxnLst/>
            <a:rect r="r" b="b" t="t" l="l"/>
            <a:pathLst>
              <a:path h="1449148" w="1383930">
                <a:moveTo>
                  <a:pt x="0" y="0"/>
                </a:moveTo>
                <a:lnTo>
                  <a:pt x="1383930" y="0"/>
                </a:lnTo>
                <a:lnTo>
                  <a:pt x="1383930" y="1449148"/>
                </a:lnTo>
                <a:lnTo>
                  <a:pt x="0" y="1449148"/>
                </a:lnTo>
                <a:lnTo>
                  <a:pt x="0" y="0"/>
                </a:lnTo>
                <a:close/>
              </a:path>
            </a:pathLst>
          </a:custGeom>
          <a:blipFill>
            <a:blip r:embed="rId3"/>
            <a:stretch>
              <a:fillRect l="-46350" t="0" r="-54411" b="0"/>
            </a:stretch>
          </a:blipFill>
        </p:spPr>
      </p:sp>
      <p:sp>
        <p:nvSpPr>
          <p:cNvPr name="TextBox 4" id="4"/>
          <p:cNvSpPr txBox="true"/>
          <p:nvPr/>
        </p:nvSpPr>
        <p:spPr>
          <a:xfrm rot="0">
            <a:off x="1900685" y="2179653"/>
            <a:ext cx="15237504" cy="600075"/>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Domain of  Project – Artificial Intelligence (AI) &amp; Software Engineering</a:t>
            </a:r>
          </a:p>
        </p:txBody>
      </p:sp>
      <p:sp>
        <p:nvSpPr>
          <p:cNvPr name="TextBox 5" id="5"/>
          <p:cNvSpPr txBox="true"/>
          <p:nvPr/>
        </p:nvSpPr>
        <p:spPr>
          <a:xfrm rot="0">
            <a:off x="1900685" y="816521"/>
            <a:ext cx="14188888" cy="600075"/>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Project Tile – DevArchitect AI</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5548" y="1878330"/>
            <a:ext cx="15727680" cy="9134475"/>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Problem Statement:</a:t>
            </a:r>
            <a:r>
              <a:rPr lang="en-US" sz="2100">
                <a:solidFill>
                  <a:srgbClr val="000000"/>
                </a:solidFill>
                <a:latin typeface="Arial"/>
                <a:ea typeface="Arial"/>
                <a:cs typeface="Arial"/>
                <a:sym typeface="Arial"/>
              </a:rPr>
              <a:t> DevArchitect AI – Multi-Agent Software Engineering Assistant</a:t>
            </a:r>
          </a:p>
          <a:p>
            <a:pPr algn="l">
              <a:lnSpc>
                <a:spcPts val="2520"/>
              </a:lnSpc>
            </a:pPr>
            <a:r>
              <a:rPr lang="en-US" sz="2100" b="true">
                <a:solidFill>
                  <a:srgbClr val="000000"/>
                </a:solidFill>
                <a:latin typeface="Arial Bold"/>
                <a:ea typeface="Arial Bold"/>
                <a:cs typeface="Arial Bold"/>
                <a:sym typeface="Arial Bold"/>
              </a:rPr>
              <a:t>The Challenge:</a:t>
            </a:r>
          </a:p>
          <a:p>
            <a:pPr algn="l">
              <a:lnSpc>
                <a:spcPts val="2520"/>
              </a:lnSpc>
            </a:pPr>
            <a:r>
              <a:rPr lang="en-US" sz="2100">
                <a:solidFill>
                  <a:srgbClr val="000000"/>
                </a:solidFill>
                <a:latin typeface="Arial"/>
                <a:ea typeface="Arial"/>
                <a:cs typeface="Arial"/>
                <a:sym typeface="Arial"/>
              </a:rPr>
              <a:t>Modern software projects are complex and difficult to understand, maintain, and secure. Developers often use multiple tools for code review, security analysis, documentation, and performance optimization, leading to fragmented workflows, reduced productivity, and increased development time.</a:t>
            </a:r>
          </a:p>
          <a:p>
            <a:pPr algn="l">
              <a:lnSpc>
                <a:spcPts val="2520"/>
              </a:lnSpc>
            </a:pPr>
            <a:r>
              <a:rPr lang="en-US" sz="2100" b="true">
                <a:solidFill>
                  <a:srgbClr val="000000"/>
                </a:solidFill>
                <a:latin typeface="Arial Bold"/>
                <a:ea typeface="Arial Bold"/>
                <a:cs typeface="Arial Bold"/>
                <a:sym typeface="Arial Bold"/>
              </a:rPr>
              <a:t>The Objective</a:t>
            </a:r>
          </a:p>
          <a:p>
            <a:pPr algn="l">
              <a:lnSpc>
                <a:spcPts val="2520"/>
              </a:lnSpc>
            </a:pPr>
            <a:r>
              <a:rPr lang="en-US" sz="2100">
                <a:solidFill>
                  <a:srgbClr val="000000"/>
                </a:solidFill>
                <a:latin typeface="Arial"/>
                <a:ea typeface="Arial"/>
                <a:cs typeface="Arial"/>
                <a:sym typeface="Arial"/>
              </a:rPr>
              <a:t>Build an AI-powered Multi-Agent Software Engineering Assistant that helps developers analyze, understand, and improve software repositories. The solution should provide:</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Analysis – Detect technologies, dependencies, and project structure.</a:t>
            </a:r>
          </a:p>
          <a:p>
            <a:pPr algn="l" marL="480060" indent="-160020" lvl="2">
              <a:lnSpc>
                <a:spcPts val="2520"/>
              </a:lnSpc>
              <a:buFont typeface="Arial"/>
              <a:buChar char="⚬"/>
            </a:pPr>
            <a:r>
              <a:rPr lang="en-US" sz="2100">
                <a:solidFill>
                  <a:srgbClr val="000000"/>
                </a:solidFill>
                <a:latin typeface="Arial"/>
                <a:ea typeface="Arial"/>
                <a:cs typeface="Arial"/>
                <a:sym typeface="Arial"/>
              </a:rPr>
              <a:t>Architecture Visualization – Generate architecture summaries and diagrams.</a:t>
            </a:r>
          </a:p>
          <a:p>
            <a:pPr algn="l" marL="480060" indent="-160020" lvl="2">
              <a:lnSpc>
                <a:spcPts val="2520"/>
              </a:lnSpc>
              <a:buFont typeface="Arial"/>
              <a:buChar char="⚬"/>
            </a:pPr>
            <a:r>
              <a:rPr lang="en-US" sz="2100">
                <a:solidFill>
                  <a:srgbClr val="000000"/>
                </a:solidFill>
                <a:latin typeface="Arial"/>
                <a:ea typeface="Arial"/>
                <a:cs typeface="Arial"/>
                <a:sym typeface="Arial"/>
              </a:rPr>
              <a:t>AI Code Review – Identify code quality issues and best practices.</a:t>
            </a:r>
          </a:p>
          <a:p>
            <a:pPr algn="l" marL="480060" indent="-160020" lvl="2">
              <a:lnSpc>
                <a:spcPts val="2520"/>
              </a:lnSpc>
              <a:buFont typeface="Arial"/>
              <a:buChar char="⚬"/>
            </a:pPr>
            <a:r>
              <a:rPr lang="en-US" sz="2100">
                <a:solidFill>
                  <a:srgbClr val="000000"/>
                </a:solidFill>
                <a:latin typeface="Arial"/>
                <a:ea typeface="Arial"/>
                <a:cs typeface="Arial"/>
                <a:sym typeface="Arial"/>
              </a:rPr>
              <a:t>Security Analysis – Detect vulnerabilities and suggest fixes.</a:t>
            </a:r>
          </a:p>
          <a:p>
            <a:pPr algn="l" marL="480060" indent="-160020" lvl="2">
              <a:lnSpc>
                <a:spcPts val="2520"/>
              </a:lnSpc>
              <a:buFont typeface="Arial"/>
              <a:buChar char="⚬"/>
            </a:pPr>
            <a:r>
              <a:rPr lang="en-US" sz="2100">
                <a:solidFill>
                  <a:srgbClr val="000000"/>
                </a:solidFill>
                <a:latin typeface="Arial"/>
                <a:ea typeface="Arial"/>
                <a:cs typeface="Arial"/>
                <a:sym typeface="Arial"/>
              </a:rPr>
              <a:t>Documentation Generation – Automatically create README and API documentation.</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Q&amp;A (RAG) – Answer natural language questions about the codebase.</a:t>
            </a:r>
          </a:p>
          <a:p>
            <a:pPr algn="l" marL="480060" indent="-160020" lvl="2">
              <a:lnSpc>
                <a:spcPts val="2520"/>
              </a:lnSpc>
            </a:pPr>
            <a:r>
              <a:rPr lang="en-US" b="true" sz="2100">
                <a:solidFill>
                  <a:srgbClr val="000000"/>
                </a:solidFill>
                <a:latin typeface="Arial Bold"/>
                <a:ea typeface="Arial Bold"/>
                <a:cs typeface="Arial Bold"/>
                <a:sym typeface="Arial Bold"/>
              </a:rPr>
              <a:t>Multi-Agent System</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Analysis Agent</a:t>
            </a:r>
          </a:p>
          <a:p>
            <a:pPr algn="l" marL="480060" indent="-160020" lvl="2">
              <a:lnSpc>
                <a:spcPts val="2520"/>
              </a:lnSpc>
              <a:buFont typeface="Arial"/>
              <a:buChar char="⚬"/>
            </a:pPr>
            <a:r>
              <a:rPr lang="en-US" sz="2100">
                <a:solidFill>
                  <a:srgbClr val="000000"/>
                </a:solidFill>
                <a:latin typeface="Arial"/>
                <a:ea typeface="Arial"/>
                <a:cs typeface="Arial"/>
                <a:sym typeface="Arial"/>
              </a:rPr>
              <a:t>Architecture Agent</a:t>
            </a:r>
          </a:p>
          <a:p>
            <a:pPr algn="l" marL="480060" indent="-160020" lvl="2">
              <a:lnSpc>
                <a:spcPts val="2520"/>
              </a:lnSpc>
              <a:buFont typeface="Arial"/>
              <a:buChar char="⚬"/>
            </a:pPr>
            <a:r>
              <a:rPr lang="en-US" sz="2100">
                <a:solidFill>
                  <a:srgbClr val="000000"/>
                </a:solidFill>
                <a:latin typeface="Arial"/>
                <a:ea typeface="Arial"/>
                <a:cs typeface="Arial"/>
                <a:sym typeface="Arial"/>
              </a:rPr>
              <a:t>Code Review Agent</a:t>
            </a:r>
          </a:p>
          <a:p>
            <a:pPr algn="l" marL="480060" indent="-160020" lvl="2">
              <a:lnSpc>
                <a:spcPts val="2520"/>
              </a:lnSpc>
              <a:buFont typeface="Arial"/>
              <a:buChar char="⚬"/>
            </a:pPr>
            <a:r>
              <a:rPr lang="en-US" sz="2100">
                <a:solidFill>
                  <a:srgbClr val="000000"/>
                </a:solidFill>
                <a:latin typeface="Arial"/>
                <a:ea typeface="Arial"/>
                <a:cs typeface="Arial"/>
                <a:sym typeface="Arial"/>
              </a:rPr>
              <a:t>Security Analysis Agent</a:t>
            </a:r>
          </a:p>
          <a:p>
            <a:pPr algn="l" marL="480060" indent="-160020" lvl="2">
              <a:lnSpc>
                <a:spcPts val="2520"/>
              </a:lnSpc>
              <a:buFont typeface="Arial"/>
              <a:buChar char="⚬"/>
            </a:pPr>
            <a:r>
              <a:rPr lang="en-US" sz="2100">
                <a:solidFill>
                  <a:srgbClr val="000000"/>
                </a:solidFill>
                <a:latin typeface="Arial"/>
                <a:ea typeface="Arial"/>
                <a:cs typeface="Arial"/>
                <a:sym typeface="Arial"/>
              </a:rPr>
              <a:t>Documentation Agent</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Q&amp;A Agent</a:t>
            </a:r>
          </a:p>
          <a:p>
            <a:pPr algn="l" marL="480060" indent="-160020" lvl="2">
              <a:lnSpc>
                <a:spcPts val="2520"/>
              </a:lnSpc>
            </a:pPr>
            <a:r>
              <a:rPr lang="en-US" b="true" sz="2100">
                <a:solidFill>
                  <a:srgbClr val="000000"/>
                </a:solidFill>
                <a:latin typeface="Arial Bold"/>
                <a:ea typeface="Arial Bold"/>
                <a:cs typeface="Arial Bold"/>
                <a:sym typeface="Arial Bold"/>
              </a:rPr>
              <a:t>Visualization Dashboard</a:t>
            </a:r>
          </a:p>
          <a:p>
            <a:pPr algn="l" marL="480060" indent="-160020" lvl="2">
              <a:lnSpc>
                <a:spcPts val="2520"/>
              </a:lnSpc>
            </a:pPr>
            <a:r>
              <a:rPr lang="en-US" sz="2100">
                <a:solidFill>
                  <a:srgbClr val="000000"/>
                </a:solidFill>
                <a:latin typeface="Arial"/>
                <a:ea typeface="Arial"/>
                <a:cs typeface="Arial"/>
                <a:sym typeface="Arial"/>
              </a:rPr>
              <a:t>Display repository health, code quality, security findings, architecture diagrams, and AI-generated insights in an interactive dashboard.</a:t>
            </a:r>
          </a:p>
          <a:p>
            <a:pPr algn="l" marL="480060" indent="-160020" lvl="2">
              <a:lnSpc>
                <a:spcPts val="2520"/>
              </a:lnSpc>
            </a:pPr>
          </a:p>
          <a:p>
            <a:pPr algn="l" marL="480060" indent="-160020" lvl="2">
              <a:lnSpc>
                <a:spcPts val="2520"/>
              </a:lnSpc>
            </a:pPr>
          </a:p>
          <a:p>
            <a:pPr algn="l" marL="480060" indent="-160020" lvl="2">
              <a:lnSpc>
                <a:spcPts val="2520"/>
              </a:lnSpc>
            </a:pPr>
          </a:p>
          <a:p>
            <a:pPr algn="l" marL="480060" indent="-160020" lvl="2">
              <a:lnSpc>
                <a:spcPts val="2520"/>
              </a:lnSpc>
            </a:pPr>
          </a:p>
          <a:p>
            <a:pPr algn="l" marL="480060" indent="-160020" lvl="2">
              <a:lnSpc>
                <a:spcPts val="2520"/>
              </a:lnSpc>
            </a:pPr>
          </a:p>
        </p:txBody>
      </p:sp>
      <p:sp>
        <p:nvSpPr>
          <p:cNvPr name="TextBox 3" id="3"/>
          <p:cNvSpPr txBox="true"/>
          <p:nvPr/>
        </p:nvSpPr>
        <p:spPr>
          <a:xfrm rot="0">
            <a:off x="955548" y="1044702"/>
            <a:ext cx="10639044" cy="658206"/>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Problem Statement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4229"/>
            <a:ext cx="15727680" cy="6619875"/>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Proposed Solution: DevArchitect AI </a:t>
            </a:r>
            <a:r>
              <a:rPr lang="en-US" sz="2100">
                <a:solidFill>
                  <a:srgbClr val="000000"/>
                </a:solidFill>
                <a:latin typeface="Arial"/>
                <a:ea typeface="Arial"/>
                <a:cs typeface="Arial"/>
                <a:sym typeface="Arial"/>
              </a:rPr>
              <a:t>– Multi-Agent Software Engineering Assistant</a:t>
            </a:r>
          </a:p>
          <a:p>
            <a:pPr algn="l">
              <a:lnSpc>
                <a:spcPts val="2520"/>
              </a:lnSpc>
            </a:pPr>
          </a:p>
          <a:p>
            <a:pPr algn="l">
              <a:lnSpc>
                <a:spcPts val="2520"/>
              </a:lnSpc>
            </a:pPr>
            <a:r>
              <a:rPr lang="en-US" sz="2100">
                <a:solidFill>
                  <a:srgbClr val="000000"/>
                </a:solidFill>
                <a:latin typeface="Arial"/>
                <a:ea typeface="Arial"/>
                <a:cs typeface="Arial"/>
                <a:sym typeface="Arial"/>
              </a:rPr>
              <a:t>The proposed solution is a Multi-Agent AI-powered Software Engineering Assistant built using IBM Bob, IBM watsonx.ai, and Granite Models to help developers analyze, understand, secure, and optimize software repositories. The system simplifies software maintenance by providing intelligent code insights through a modular agent-based architecture.</a:t>
            </a:r>
          </a:p>
          <a:p>
            <a:pPr algn="l">
              <a:lnSpc>
                <a:spcPts val="2520"/>
              </a:lnSpc>
            </a:pPr>
            <a:r>
              <a:rPr lang="en-US" sz="2100">
                <a:solidFill>
                  <a:srgbClr val="000000"/>
                </a:solidFill>
                <a:latin typeface="Arial"/>
                <a:ea typeface="Arial"/>
                <a:cs typeface="Arial"/>
                <a:sym typeface="Arial"/>
              </a:rPr>
              <a:t>At its core, the solution uses a Retrieval-Augmented Generation (RAG) pipeline to index repository files into a vector database, enabling Granite models to answer repository-related questions with contextual understanding.</a:t>
            </a:r>
          </a:p>
          <a:p>
            <a:pPr algn="l">
              <a:lnSpc>
                <a:spcPts val="2520"/>
              </a:lnSpc>
            </a:pPr>
          </a:p>
          <a:p>
            <a:pPr algn="l">
              <a:lnSpc>
                <a:spcPts val="2520"/>
              </a:lnSpc>
            </a:pPr>
            <a:r>
              <a:rPr lang="en-US" sz="2100">
                <a:solidFill>
                  <a:srgbClr val="000000"/>
                </a:solidFill>
                <a:latin typeface="Arial"/>
                <a:ea typeface="Arial"/>
                <a:cs typeface="Arial"/>
                <a:sym typeface="Arial"/>
              </a:rPr>
              <a:t>The system consists of six key agents:</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Analysis Agent – Analyzes project structure, technologies, dependencies, and repository health.</a:t>
            </a:r>
          </a:p>
          <a:p>
            <a:pPr algn="l" marL="480060" indent="-160020" lvl="2">
              <a:lnSpc>
                <a:spcPts val="2520"/>
              </a:lnSpc>
              <a:buFont typeface="Arial"/>
              <a:buChar char="⚬"/>
            </a:pPr>
            <a:r>
              <a:rPr lang="en-US" sz="2100">
                <a:solidFill>
                  <a:srgbClr val="000000"/>
                </a:solidFill>
                <a:latin typeface="Arial"/>
                <a:ea typeface="Arial"/>
                <a:cs typeface="Arial"/>
                <a:sym typeface="Arial"/>
              </a:rPr>
              <a:t>Architecture Agent – Generates architecture summaries, dependency graphs, and Mermaid diagrams.</a:t>
            </a:r>
          </a:p>
          <a:p>
            <a:pPr algn="l" marL="480060" indent="-160020" lvl="2">
              <a:lnSpc>
                <a:spcPts val="2520"/>
              </a:lnSpc>
              <a:buFont typeface="Arial"/>
              <a:buChar char="⚬"/>
            </a:pPr>
            <a:r>
              <a:rPr lang="en-US" sz="2100">
                <a:solidFill>
                  <a:srgbClr val="000000"/>
                </a:solidFill>
                <a:latin typeface="Arial"/>
                <a:ea typeface="Arial"/>
                <a:cs typeface="Arial"/>
                <a:sym typeface="Arial"/>
              </a:rPr>
              <a:t>Code Review Agent – Detects code smells, duplicate code, and recommends best coding practices.</a:t>
            </a:r>
          </a:p>
          <a:p>
            <a:pPr algn="l" marL="480060" indent="-160020" lvl="2">
              <a:lnSpc>
                <a:spcPts val="2520"/>
              </a:lnSpc>
              <a:buFont typeface="Arial"/>
              <a:buChar char="⚬"/>
            </a:pPr>
            <a:r>
              <a:rPr lang="en-US" sz="2100">
                <a:solidFill>
                  <a:srgbClr val="000000"/>
                </a:solidFill>
                <a:latin typeface="Arial"/>
                <a:ea typeface="Arial"/>
                <a:cs typeface="Arial"/>
                <a:sym typeface="Arial"/>
              </a:rPr>
              <a:t>Security Analysis Agent – Identifies vulnerabilities, insecure coding practices, and provides remediation suggestions.</a:t>
            </a:r>
          </a:p>
          <a:p>
            <a:pPr algn="l" marL="480060" indent="-160020" lvl="2">
              <a:lnSpc>
                <a:spcPts val="2520"/>
              </a:lnSpc>
              <a:buFont typeface="Arial"/>
              <a:buChar char="⚬"/>
            </a:pPr>
            <a:r>
              <a:rPr lang="en-US" sz="2100">
                <a:solidFill>
                  <a:srgbClr val="000000"/>
                </a:solidFill>
                <a:latin typeface="Arial"/>
                <a:ea typeface="Arial"/>
                <a:cs typeface="Arial"/>
                <a:sym typeface="Arial"/>
              </a:rPr>
              <a:t>Documentation Agent – Automatically generates README files, API documentation, and developer guides.</a:t>
            </a:r>
          </a:p>
          <a:p>
            <a:pPr algn="l" marL="480060" indent="-160020" lvl="2">
              <a:lnSpc>
                <a:spcPts val="2520"/>
              </a:lnSpc>
              <a:buFont typeface="Arial"/>
              <a:buChar char="⚬"/>
            </a:pPr>
            <a:r>
              <a:rPr lang="en-US" sz="2100">
                <a:solidFill>
                  <a:srgbClr val="000000"/>
                </a:solidFill>
                <a:latin typeface="Arial"/>
                <a:ea typeface="Arial"/>
                <a:cs typeface="Arial"/>
                <a:sym typeface="Arial"/>
              </a:rPr>
              <a:t>Repository Q&amp;A Agent – Enables developers to interact with the codebase using natural language through RAG.</a:t>
            </a:r>
          </a:p>
          <a:p>
            <a:pPr algn="l" marL="480060" indent="-160020" lvl="2">
              <a:lnSpc>
                <a:spcPts val="2520"/>
              </a:lnSpc>
            </a:pPr>
          </a:p>
          <a:p>
            <a:pPr algn="l" marL="480060" indent="-160020" lvl="2">
              <a:lnSpc>
                <a:spcPts val="2520"/>
              </a:lnSpc>
            </a:pPr>
            <a:r>
              <a:rPr lang="en-US" sz="2100">
                <a:solidFill>
                  <a:srgbClr val="000000"/>
                </a:solidFill>
                <a:latin typeface="Arial"/>
                <a:ea typeface="Arial"/>
                <a:cs typeface="Arial"/>
                <a:sym typeface="Arial"/>
              </a:rPr>
              <a:t>The solution includes an interactive dashboard that displays repository health, code quality metrics, security findings, architecture visualizations, and AI-generated insights.</a:t>
            </a:r>
          </a:p>
          <a:p>
            <a:pPr algn="l" marL="480060" indent="-160020" lvl="2">
              <a:lnSpc>
                <a:spcPts val="2520"/>
              </a:lnSpc>
            </a:pPr>
            <a:r>
              <a:rPr lang="en-US" sz="2100">
                <a:solidFill>
                  <a:srgbClr val="000000"/>
                </a:solidFill>
                <a:latin typeface="Arial"/>
                <a:ea typeface="Arial"/>
                <a:cs typeface="Arial"/>
                <a:sym typeface="Arial"/>
              </a:rPr>
              <a:t>IBM Bob orchestrates the multi-agent workflow, IBM watsonx.ai manages AI model deployment and governance, while Granite Models power repository understanding, reasoning, code analysis, documentation generation, and intelligent developer assistance.</a:t>
            </a:r>
          </a:p>
          <a:p>
            <a:pPr algn="l" marL="480060" indent="-160020" lvl="2">
              <a:lnSpc>
                <a:spcPts val="2520"/>
              </a:lnSpc>
            </a:pPr>
          </a:p>
        </p:txBody>
      </p:sp>
      <p:sp>
        <p:nvSpPr>
          <p:cNvPr name="TextBox 3" id="3"/>
          <p:cNvSpPr txBox="true"/>
          <p:nvPr/>
        </p:nvSpPr>
        <p:spPr>
          <a:xfrm rot="0">
            <a:off x="955548" y="1044702"/>
            <a:ext cx="10639044" cy="658206"/>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Proposed Solution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15518"/>
            <a:ext cx="10501884" cy="658206"/>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Technology Used</a:t>
            </a:r>
          </a:p>
        </p:txBody>
      </p:sp>
      <p:sp>
        <p:nvSpPr>
          <p:cNvPr name="TextBox 3" id="3"/>
          <p:cNvSpPr txBox="true"/>
          <p:nvPr/>
        </p:nvSpPr>
        <p:spPr>
          <a:xfrm rot="0">
            <a:off x="1257300" y="1818132"/>
            <a:ext cx="15590520" cy="6591300"/>
          </a:xfrm>
          <a:prstGeom prst="rect">
            <a:avLst/>
          </a:prstGeom>
        </p:spPr>
        <p:txBody>
          <a:bodyPr anchor="t" rtlCol="false" tIns="0" lIns="0" bIns="0" rIns="0">
            <a:spAutoFit/>
          </a:bodyPr>
          <a:lstStyle/>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IBM Bob Platform –</a:t>
            </a:r>
            <a:r>
              <a:rPr lang="en-US" sz="2700">
                <a:solidFill>
                  <a:srgbClr val="000000"/>
                </a:solidFill>
                <a:latin typeface="Arial"/>
                <a:ea typeface="Arial"/>
                <a:cs typeface="Arial"/>
                <a:sym typeface="Arial"/>
              </a:rPr>
              <a:t> For designing and orchestrating multi-agent workflows visually, enabling seamless collaboration between specialized AI agents.</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IBM Granite Model (e.g., ibm-granite-3-8b-instruct / ibm-granite-34b-code-instruct) – </a:t>
            </a:r>
            <a:r>
              <a:rPr lang="en-US" sz="2700">
                <a:solidFill>
                  <a:srgbClr val="000000"/>
                </a:solidFill>
                <a:latin typeface="Arial"/>
                <a:ea typeface="Arial"/>
                <a:cs typeface="Arial"/>
                <a:sym typeface="Arial"/>
              </a:rPr>
              <a:t>For code understanding, repository analysis, software architecture reasoning, documentation generation, and intelligent code review.</a:t>
            </a:r>
          </a:p>
          <a:p>
            <a:pPr algn="l" marL="570071" indent="-190024" lvl="2">
              <a:lnSpc>
                <a:spcPts val="3240"/>
              </a:lnSpc>
              <a:buFont typeface="Arial"/>
              <a:buChar char="⚬"/>
            </a:pPr>
            <a:r>
              <a:rPr lang="en-US" b="true" sz="2700">
                <a:solidFill>
                  <a:srgbClr val="000000"/>
                </a:solidFill>
                <a:latin typeface="Arial Bold"/>
                <a:ea typeface="Arial Bold"/>
                <a:cs typeface="Arial Bold"/>
                <a:sym typeface="Arial Bold"/>
              </a:rPr>
              <a:t>IBM Cloud – </a:t>
            </a:r>
            <a:r>
              <a:rPr lang="en-US" sz="2700">
                <a:solidFill>
                  <a:srgbClr val="000000"/>
                </a:solidFill>
                <a:latin typeface="Arial"/>
                <a:ea typeface="Arial"/>
                <a:cs typeface="Arial"/>
                <a:sym typeface="Arial"/>
              </a:rPr>
              <a:t>Provides a secure, scalable, and reliable cloud infrastructure to build, deploy, and manage the DevArchitect AI application.</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RAG (Retrieval-Augmented Generation) – </a:t>
            </a:r>
            <a:r>
              <a:rPr lang="en-US" sz="2700">
                <a:solidFill>
                  <a:srgbClr val="000000"/>
                </a:solidFill>
                <a:latin typeface="Arial"/>
                <a:ea typeface="Arial"/>
                <a:cs typeface="Arial"/>
                <a:sym typeface="Arial"/>
              </a:rPr>
              <a:t>Retrieves relevant repository files and project context before generating responses, enabling accurate code explanations and repository-aware AI assistance.</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IBM watsonx.ai –</a:t>
            </a:r>
            <a:r>
              <a:rPr lang="en-US" sz="2700">
                <a:solidFill>
                  <a:srgbClr val="000000"/>
                </a:solidFill>
                <a:latin typeface="Arial"/>
                <a:ea typeface="Arial"/>
                <a:cs typeface="Arial"/>
                <a:sym typeface="Arial"/>
              </a:rPr>
              <a:t> For model deployment, prompt orchestration, embeddings, AI governance, and integration with Granite models.</a:t>
            </a:r>
          </a:p>
          <a:p>
            <a:pPr algn="l" marL="570071" indent="-190024" lvl="2">
              <a:lnSpc>
                <a:spcPts val="3240"/>
              </a:lnSpc>
              <a:buFont typeface="Arial"/>
              <a:buChar char="⚬"/>
            </a:pPr>
            <a:r>
              <a:rPr lang="en-US" b="true" sz="2700">
                <a:solidFill>
                  <a:srgbClr val="000000"/>
                </a:solidFill>
                <a:latin typeface="Arial Bold"/>
                <a:ea typeface="Arial Bold"/>
                <a:cs typeface="Arial Bold"/>
                <a:sym typeface="Arial Bold"/>
              </a:rPr>
              <a:t>Vector Database (FAISS/ChromaDB) – </a:t>
            </a:r>
            <a:r>
              <a:rPr lang="en-US" sz="2700">
                <a:solidFill>
                  <a:srgbClr val="000000"/>
                </a:solidFill>
                <a:latin typeface="Arial"/>
                <a:ea typeface="Arial"/>
                <a:cs typeface="Arial"/>
                <a:sym typeface="Arial"/>
              </a:rPr>
              <a:t>Stores embeddings of repository files and documentation to enable semantic search and RAG-based code retrieval.</a:t>
            </a:r>
          </a:p>
          <a:p>
            <a:pPr algn="l" marL="570071" indent="-190024" lvl="2">
              <a:lnSpc>
                <a:spcPts val="3240"/>
              </a:lnSpc>
            </a:pPr>
          </a:p>
          <a:p>
            <a:pPr algn="l" marL="570071" indent="-190024" lvl="2">
              <a:lnSpc>
                <a:spcPts val="32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3672" y="1302401"/>
            <a:ext cx="13053060" cy="7056301"/>
          </a:xfrm>
          <a:prstGeom prst="rect">
            <a:avLst/>
          </a:prstGeom>
        </p:spPr>
        <p:txBody>
          <a:bodyPr anchor="t" rtlCol="false" tIns="0" lIns="0" bIns="0" rIns="0">
            <a:spAutoFit/>
          </a:bodyPr>
          <a:lstStyle/>
          <a:p>
            <a:pPr algn="l">
              <a:lnSpc>
                <a:spcPts val="3240"/>
              </a:lnSpc>
            </a:pPr>
          </a:p>
          <a:p>
            <a:pPr algn="l" marL="570071" indent="-190024" lvl="2">
              <a:lnSpc>
                <a:spcPts val="3240"/>
              </a:lnSpc>
              <a:buAutoNum type="arabicPeriod" startAt="1"/>
            </a:pPr>
            <a:r>
              <a:rPr lang="en-US" sz="2700">
                <a:solidFill>
                  <a:srgbClr val="000000"/>
                </a:solidFill>
                <a:latin typeface="Arial"/>
                <a:ea typeface="Arial"/>
                <a:cs typeface="Arial"/>
                <a:sym typeface="Arial"/>
              </a:rPr>
              <a:t>App.py</a:t>
            </a:r>
          </a:p>
          <a:p>
            <a:pPr algn="l" marL="570071" indent="-190024" lvl="2">
              <a:lnSpc>
                <a:spcPts val="3240"/>
              </a:lnSpc>
            </a:pPr>
          </a:p>
          <a:p>
            <a:pPr algn="l" marL="570071" indent="-190024" lvl="2">
              <a:lnSpc>
                <a:spcPts val="3240"/>
              </a:lnSpc>
              <a:buAutoNum type="arabicPeriod" startAt="1"/>
            </a:pPr>
            <a:r>
              <a:rPr lang="en-US" sz="2700">
                <a:solidFill>
                  <a:srgbClr val="000000"/>
                </a:solidFill>
                <a:latin typeface="Arial"/>
                <a:ea typeface="Arial"/>
                <a:cs typeface="Arial"/>
                <a:sym typeface="Arial"/>
              </a:rPr>
              <a:t>Requirements.txt</a:t>
            </a:r>
          </a:p>
          <a:p>
            <a:pPr algn="l" marL="570071" indent="-190024" lvl="2">
              <a:lnSpc>
                <a:spcPts val="3240"/>
              </a:lnSpc>
            </a:pPr>
          </a:p>
          <a:p>
            <a:pPr algn="l" marL="570071" indent="-190024" lvl="2">
              <a:lnSpc>
                <a:spcPts val="3240"/>
              </a:lnSpc>
              <a:buAutoNum type="arabicPeriod" startAt="1"/>
            </a:pPr>
            <a:r>
              <a:rPr lang="en-US" sz="2700">
                <a:solidFill>
                  <a:srgbClr val="000000"/>
                </a:solidFill>
                <a:latin typeface="Arial"/>
                <a:ea typeface="Arial"/>
                <a:cs typeface="Arial"/>
                <a:sym typeface="Arial"/>
              </a:rPr>
              <a:t>Style.css </a:t>
            </a:r>
          </a:p>
          <a:p>
            <a:pPr algn="l" marL="570071" indent="-190024" lvl="2">
              <a:lnSpc>
                <a:spcPts val="3240"/>
              </a:lnSpc>
            </a:pPr>
          </a:p>
          <a:p>
            <a:pPr algn="l" marL="570071" indent="-190024" lvl="2">
              <a:lnSpc>
                <a:spcPts val="3240"/>
              </a:lnSpc>
              <a:buAutoNum type="arabicPeriod" startAt="1"/>
            </a:pPr>
            <a:r>
              <a:rPr lang="en-US" sz="2700">
                <a:solidFill>
                  <a:srgbClr val="000000"/>
                </a:solidFill>
                <a:latin typeface="Arial"/>
                <a:ea typeface="Arial"/>
                <a:cs typeface="Arial"/>
                <a:sym typeface="Arial"/>
              </a:rPr>
              <a:t>.env</a:t>
            </a:r>
          </a:p>
          <a:p>
            <a:pPr algn="l" marL="570071" indent="-190024" lvl="2">
              <a:lnSpc>
                <a:spcPts val="3240"/>
              </a:lnSpc>
            </a:pPr>
          </a:p>
          <a:p>
            <a:pPr algn="l" marL="570071" indent="-190024" lvl="2">
              <a:lnSpc>
                <a:spcPts val="3240"/>
              </a:lnSpc>
              <a:buAutoNum type="arabicPeriod" startAt="1"/>
            </a:pPr>
            <a:r>
              <a:rPr lang="en-US" sz="2700">
                <a:solidFill>
                  <a:srgbClr val="000000"/>
                </a:solidFill>
                <a:latin typeface="Arial"/>
                <a:ea typeface="Arial"/>
                <a:cs typeface="Arial"/>
                <a:sym typeface="Arial"/>
              </a:rPr>
              <a:t>Index.html</a:t>
            </a:r>
          </a:p>
          <a:p>
            <a:pPr algn="l" marL="570071" indent="-190024" lvl="2">
              <a:lnSpc>
                <a:spcPts val="3240"/>
              </a:lnSpc>
            </a:pPr>
          </a:p>
          <a:p>
            <a:pPr algn="l" marL="570071" indent="-190024" lvl="2">
              <a:lnSpc>
                <a:spcPts val="3240"/>
              </a:lnSpc>
            </a:pPr>
          </a:p>
          <a:p>
            <a:pPr algn="l" marL="570071" indent="-190024" lvl="2">
              <a:lnSpc>
                <a:spcPts val="3240"/>
              </a:lnSpc>
            </a:pPr>
          </a:p>
          <a:p>
            <a:pPr algn="l" marL="570071" indent="-190024" lvl="2">
              <a:lnSpc>
                <a:spcPts val="3240"/>
              </a:lnSpc>
            </a:pPr>
          </a:p>
          <a:p>
            <a:pPr algn="l" marL="570071" indent="-190024" lvl="2">
              <a:lnSpc>
                <a:spcPts val="3240"/>
              </a:lnSpc>
            </a:pPr>
          </a:p>
          <a:p>
            <a:pPr algn="l" marL="570071" indent="-190024" lvl="2">
              <a:lnSpc>
                <a:spcPts val="3240"/>
              </a:lnSpc>
            </a:pPr>
          </a:p>
          <a:p>
            <a:pPr algn="l" marL="570071" indent="-190024" lvl="2">
              <a:lnSpc>
                <a:spcPts val="3240"/>
              </a:lnSpc>
            </a:pPr>
          </a:p>
          <a:p>
            <a:pPr algn="l" marL="570071" indent="-190024" lvl="2">
              <a:lnSpc>
                <a:spcPts val="3240"/>
              </a:lnSpc>
            </a:pPr>
          </a:p>
          <a:p>
            <a:pPr algn="l" marL="443389" indent="-147796" lvl="2">
              <a:lnSpc>
                <a:spcPts val="2520"/>
              </a:lnSpc>
            </a:pPr>
            <a:r>
              <a:rPr lang="en-US" sz="2100">
                <a:solidFill>
                  <a:srgbClr val="000000"/>
                </a:solidFill>
                <a:latin typeface="Arial"/>
                <a:ea typeface="Arial"/>
                <a:cs typeface="Arial"/>
                <a:sym typeface="Arial"/>
              </a:rPr>
              <a:t> </a:t>
            </a:r>
          </a:p>
        </p:txBody>
      </p:sp>
      <p:grpSp>
        <p:nvGrpSpPr>
          <p:cNvPr name="Group 3" id="3"/>
          <p:cNvGrpSpPr/>
          <p:nvPr/>
        </p:nvGrpSpPr>
        <p:grpSpPr>
          <a:xfrm rot="0">
            <a:off x="6809099" y="2311441"/>
            <a:ext cx="9978971" cy="7605074"/>
            <a:chOff x="0" y="0"/>
            <a:chExt cx="13305295" cy="10140099"/>
          </a:xfrm>
        </p:grpSpPr>
        <p:sp>
          <p:nvSpPr>
            <p:cNvPr name="Freeform 4" id="4"/>
            <p:cNvSpPr/>
            <p:nvPr/>
          </p:nvSpPr>
          <p:spPr>
            <a:xfrm flipH="false" flipV="false" rot="0">
              <a:off x="0" y="0"/>
              <a:ext cx="13305282" cy="10140061"/>
            </a:xfrm>
            <a:custGeom>
              <a:avLst/>
              <a:gdLst/>
              <a:ahLst/>
              <a:cxnLst/>
              <a:rect r="r" b="b" t="t" l="l"/>
              <a:pathLst>
                <a:path h="10140061" w="13305282">
                  <a:moveTo>
                    <a:pt x="0" y="0"/>
                  </a:moveTo>
                  <a:lnTo>
                    <a:pt x="13305282" y="0"/>
                  </a:lnTo>
                  <a:lnTo>
                    <a:pt x="13305282" y="10140061"/>
                  </a:lnTo>
                  <a:lnTo>
                    <a:pt x="0" y="10140061"/>
                  </a:lnTo>
                  <a:lnTo>
                    <a:pt x="0" y="0"/>
                  </a:lnTo>
                  <a:close/>
                </a:path>
              </a:pathLst>
            </a:custGeom>
            <a:blipFill>
              <a:blip r:embed="rId3"/>
              <a:stretch>
                <a:fillRect l="0" t="0" r="0" b="0"/>
              </a:stretch>
            </a:blipFill>
          </p:spPr>
        </p:sp>
      </p:grpSp>
      <p:grpSp>
        <p:nvGrpSpPr>
          <p:cNvPr name="Group 5" id="5"/>
          <p:cNvGrpSpPr/>
          <p:nvPr/>
        </p:nvGrpSpPr>
        <p:grpSpPr>
          <a:xfrm rot="0">
            <a:off x="6768598" y="2881112"/>
            <a:ext cx="9051455" cy="664883"/>
            <a:chOff x="0" y="0"/>
            <a:chExt cx="12068607" cy="886511"/>
          </a:xfrm>
        </p:grpSpPr>
        <p:sp>
          <p:nvSpPr>
            <p:cNvPr name="Freeform 6" id="6"/>
            <p:cNvSpPr/>
            <p:nvPr/>
          </p:nvSpPr>
          <p:spPr>
            <a:xfrm flipH="false" flipV="false" rot="0">
              <a:off x="0" y="0"/>
              <a:ext cx="12068556" cy="886460"/>
            </a:xfrm>
            <a:custGeom>
              <a:avLst/>
              <a:gdLst/>
              <a:ahLst/>
              <a:cxnLst/>
              <a:rect r="r" b="b" t="t" l="l"/>
              <a:pathLst>
                <a:path h="886460" w="12068556">
                  <a:moveTo>
                    <a:pt x="0" y="0"/>
                  </a:moveTo>
                  <a:lnTo>
                    <a:pt x="12068556" y="0"/>
                  </a:lnTo>
                  <a:lnTo>
                    <a:pt x="12068556" y="886460"/>
                  </a:lnTo>
                  <a:lnTo>
                    <a:pt x="0" y="886460"/>
                  </a:lnTo>
                  <a:close/>
                </a:path>
              </a:pathLst>
            </a:custGeom>
            <a:blipFill>
              <a:blip r:embed="rId4">
                <a:alphaModFix amt="0"/>
              </a:blip>
              <a:stretch>
                <a:fillRect l="0" t="-215273" r="0" b="-215279"/>
              </a:stretch>
            </a:blipFill>
            <a:ln w="108000" cap="sq">
              <a:solidFill>
                <a:srgbClr val="E71224"/>
              </a:solidFill>
              <a:prstDash val="solid"/>
              <a:miter/>
            </a:ln>
          </p:spPr>
        </p:sp>
      </p:grpSp>
      <p:sp>
        <p:nvSpPr>
          <p:cNvPr name="Freeform 7" id="7"/>
          <p:cNvSpPr/>
          <p:nvPr/>
        </p:nvSpPr>
        <p:spPr>
          <a:xfrm flipH="false" flipV="false" rot="0">
            <a:off x="11570865" y="1744732"/>
            <a:ext cx="1463269" cy="1398213"/>
          </a:xfrm>
          <a:custGeom>
            <a:avLst/>
            <a:gdLst/>
            <a:ahLst/>
            <a:cxnLst/>
            <a:rect r="r" b="b" t="t" l="l"/>
            <a:pathLst>
              <a:path h="1398213" w="1463269">
                <a:moveTo>
                  <a:pt x="0" y="0"/>
                </a:moveTo>
                <a:lnTo>
                  <a:pt x="1463269" y="0"/>
                </a:lnTo>
                <a:lnTo>
                  <a:pt x="1463269" y="1398213"/>
                </a:lnTo>
                <a:lnTo>
                  <a:pt x="0" y="13982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806386" y="427711"/>
            <a:ext cx="8863394" cy="72991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Required Files created using IBM bob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9961" y="1739160"/>
            <a:ext cx="14469999" cy="6927513"/>
            <a:chOff x="0" y="0"/>
            <a:chExt cx="19293332" cy="9236685"/>
          </a:xfrm>
        </p:grpSpPr>
        <p:sp>
          <p:nvSpPr>
            <p:cNvPr name="Freeform 3" id="3"/>
            <p:cNvSpPr/>
            <p:nvPr/>
          </p:nvSpPr>
          <p:spPr>
            <a:xfrm flipH="false" flipV="false" rot="0">
              <a:off x="0" y="0"/>
              <a:ext cx="19293332" cy="9236710"/>
            </a:xfrm>
            <a:custGeom>
              <a:avLst/>
              <a:gdLst/>
              <a:ahLst/>
              <a:cxnLst/>
              <a:rect r="r" b="b" t="t" l="l"/>
              <a:pathLst>
                <a:path h="9236710" w="19293332">
                  <a:moveTo>
                    <a:pt x="0" y="0"/>
                  </a:moveTo>
                  <a:lnTo>
                    <a:pt x="19293332" y="0"/>
                  </a:lnTo>
                  <a:lnTo>
                    <a:pt x="19293332" y="9236710"/>
                  </a:lnTo>
                  <a:lnTo>
                    <a:pt x="0" y="9236710"/>
                  </a:lnTo>
                  <a:lnTo>
                    <a:pt x="0" y="0"/>
                  </a:lnTo>
                  <a:close/>
                </a:path>
              </a:pathLst>
            </a:custGeom>
            <a:blipFill>
              <a:blip r:embed="rId3"/>
              <a:stretch>
                <a:fillRect l="-6" t="0" r="-6" b="0"/>
              </a:stretch>
            </a:blipFill>
          </p:spPr>
        </p:sp>
      </p:grpSp>
      <p:sp>
        <p:nvSpPr>
          <p:cNvPr name="TextBox 4" id="4"/>
          <p:cNvSpPr txBox="true"/>
          <p:nvPr/>
        </p:nvSpPr>
        <p:spPr>
          <a:xfrm rot="0">
            <a:off x="806386" y="427711"/>
            <a:ext cx="8863394" cy="729910"/>
          </a:xfrm>
          <a:prstGeom prst="rect">
            <a:avLst/>
          </a:prstGeom>
        </p:spPr>
        <p:txBody>
          <a:bodyPr anchor="t" rtlCol="false" tIns="0" lIns="0" bIns="0" rIns="0">
            <a:spAutoFit/>
          </a:bodyPr>
          <a:lstStyle/>
          <a:p>
            <a:pPr algn="l">
              <a:lnSpc>
                <a:spcPts val="4320"/>
              </a:lnSpc>
            </a:pPr>
            <a:r>
              <a:rPr lang="en-US" sz="3600" b="true">
                <a:solidFill>
                  <a:srgbClr val="051D3A"/>
                </a:solidFill>
                <a:latin typeface="Times New Roman Bold"/>
                <a:ea typeface="Times New Roman Bold"/>
                <a:cs typeface="Times New Roman Bold"/>
                <a:sym typeface="Times New Roman Bold"/>
              </a:rPr>
              <a:t> IBM Bob Screenshots: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36385" y="1409186"/>
            <a:ext cx="14657413" cy="7722622"/>
            <a:chOff x="0" y="0"/>
            <a:chExt cx="19543217" cy="10296830"/>
          </a:xfrm>
        </p:grpSpPr>
        <p:sp>
          <p:nvSpPr>
            <p:cNvPr name="Freeform 3" id="3"/>
            <p:cNvSpPr/>
            <p:nvPr/>
          </p:nvSpPr>
          <p:spPr>
            <a:xfrm flipH="false" flipV="false" rot="0">
              <a:off x="0" y="0"/>
              <a:ext cx="19543268" cy="10296779"/>
            </a:xfrm>
            <a:custGeom>
              <a:avLst/>
              <a:gdLst/>
              <a:ahLst/>
              <a:cxnLst/>
              <a:rect r="r" b="b" t="t" l="l"/>
              <a:pathLst>
                <a:path h="10296779" w="19543268">
                  <a:moveTo>
                    <a:pt x="0" y="0"/>
                  </a:moveTo>
                  <a:lnTo>
                    <a:pt x="19543268" y="0"/>
                  </a:lnTo>
                  <a:lnTo>
                    <a:pt x="19543268" y="10296779"/>
                  </a:lnTo>
                  <a:lnTo>
                    <a:pt x="0" y="10296779"/>
                  </a:lnTo>
                  <a:lnTo>
                    <a:pt x="0" y="0"/>
                  </a:lnTo>
                  <a:close/>
                </a:path>
              </a:pathLst>
            </a:custGeom>
            <a:blipFill>
              <a:blip r:embed="rId2"/>
              <a:stretch>
                <a:fillRect l="-12" t="0" r="-11"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7979" y="1751238"/>
            <a:ext cx="4523042" cy="6784562"/>
            <a:chOff x="0" y="0"/>
            <a:chExt cx="6030722" cy="9046083"/>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3"/>
              <a:stretch>
                <a:fillRect l="0" t="0" r="0" b="0"/>
              </a:stretch>
            </a:blipFill>
          </p:spPr>
        </p:sp>
      </p:grpSp>
      <p:sp>
        <p:nvSpPr>
          <p:cNvPr name="TextBox 4" id="4"/>
          <p:cNvSpPr txBox="true"/>
          <p:nvPr/>
        </p:nvSpPr>
        <p:spPr>
          <a:xfrm rot="0">
            <a:off x="804672" y="432816"/>
            <a:ext cx="13793724" cy="82382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1024128" y="1777908"/>
            <a:ext cx="10927080" cy="7877175"/>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Agentic AI enables DevArchitect AI to function as an intelligent, autonomous software engineering assistant rather than a traditional code analysis tool. Using IBM watsonx.ai and IBM Granite models, it coordinates multiple specialized agents to analyze, understand, and improve software repositories.</a:t>
            </a:r>
          </a:p>
          <a:p>
            <a:pPr algn="l">
              <a:lnSpc>
                <a:spcPts val="2520"/>
              </a:lnSpc>
            </a:pPr>
          </a:p>
          <a:p>
            <a:pPr algn="l">
              <a:lnSpc>
                <a:spcPts val="2520"/>
              </a:lnSpc>
            </a:pPr>
            <a:r>
              <a:rPr lang="en-US" sz="2100">
                <a:solidFill>
                  <a:srgbClr val="000000"/>
                </a:solidFill>
                <a:latin typeface="Arial"/>
                <a:ea typeface="Arial"/>
                <a:cs typeface="Arial"/>
                <a:sym typeface="Arial"/>
              </a:rPr>
              <a:t>Each agent performs a specific role—such as repository analysis, architecture generation, code review, security assessment, documentation generation, and repository Q&amp;A—while collaborating to provide comprehensive insights. This multi-agent approach improves accuracy, efficiency, and automation throughout the software development lifecycle.</a:t>
            </a:r>
          </a:p>
          <a:p>
            <a:pPr algn="l">
              <a:lnSpc>
                <a:spcPts val="2520"/>
              </a:lnSpc>
            </a:pPr>
          </a:p>
          <a:p>
            <a:pPr algn="l">
              <a:lnSpc>
                <a:spcPts val="2520"/>
              </a:lnSpc>
            </a:pPr>
            <a:r>
              <a:rPr lang="en-US" sz="2100">
                <a:solidFill>
                  <a:srgbClr val="000000"/>
                </a:solidFill>
                <a:latin typeface="Arial"/>
                <a:ea typeface="Arial"/>
                <a:cs typeface="Arial"/>
                <a:sym typeface="Arial"/>
              </a:rPr>
              <a:t>Agentic AI also provides context-aware reasoning by understanding the project's structure, programming languages, dependencies, and business logic. It delivers repository-specific recommendations instead of generic suggestions and adapts its analysis based on the uploaded codebase.</a:t>
            </a:r>
          </a:p>
          <a:p>
            <a:pPr algn="l">
              <a:lnSpc>
                <a:spcPts val="2520"/>
              </a:lnSpc>
            </a:pPr>
          </a:p>
          <a:p>
            <a:pPr algn="l">
              <a:lnSpc>
                <a:spcPts val="2520"/>
              </a:lnSpc>
            </a:pPr>
            <a:r>
              <a:rPr lang="en-US" sz="2100">
                <a:solidFill>
                  <a:srgbClr val="000000"/>
                </a:solidFill>
                <a:latin typeface="Arial"/>
                <a:ea typeface="Arial"/>
                <a:cs typeface="Arial"/>
                <a:sym typeface="Arial"/>
              </a:rPr>
              <a:t>Additionally, the agents communicate and share findings with one another, enabling better decision-making, more accurate recommendations, and a unified view of the repository.</a:t>
            </a:r>
          </a:p>
          <a:p>
            <a:pPr algn="l">
              <a:lnSpc>
                <a:spcPts val="2520"/>
              </a:lnSpc>
            </a:pPr>
            <a:r>
              <a:rPr lang="en-US" sz="2100">
                <a:solidFill>
                  <a:srgbClr val="000000"/>
                </a:solidFill>
                <a:latin typeface="Arial"/>
                <a:ea typeface="Arial"/>
                <a:cs typeface="Arial"/>
                <a:sym typeface="Arial"/>
              </a:rPr>
              <a:t>Overall, Agentic AI transforms DevArchitect AI into a proactive, intelligent software engineering assistant that helps developers understand, maintain, secure, and optimize complex codebases more efficiently.</a:t>
            </a:r>
          </a:p>
          <a:p>
            <a:pPr algn="l">
              <a:lnSpc>
                <a:spcPts val="2520"/>
              </a:lnSpc>
            </a:pPr>
          </a:p>
          <a:p>
            <a:pPr algn="l">
              <a:lnSpc>
                <a:spcPts val="2520"/>
              </a:lnSpc>
            </a:pPr>
          </a:p>
          <a:p>
            <a:pPr algn="l">
              <a:lnSpc>
                <a:spcPts val="2520"/>
              </a:lnSpc>
            </a:pPr>
          </a:p>
          <a:p>
            <a:pPr algn="l">
              <a:lnSpc>
                <a:spcPts val="2520"/>
              </a:lnSpc>
            </a:pPr>
          </a:p>
          <a:p>
            <a:pPr algn="l">
              <a:lnSpc>
                <a:spcPts val="25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1887" y="1917421"/>
            <a:ext cx="13084226" cy="6452159"/>
            <a:chOff x="0" y="0"/>
            <a:chExt cx="17445634" cy="8602878"/>
          </a:xfrm>
        </p:grpSpPr>
        <p:sp>
          <p:nvSpPr>
            <p:cNvPr name="Freeform 3" id="3"/>
            <p:cNvSpPr/>
            <p:nvPr/>
          </p:nvSpPr>
          <p:spPr>
            <a:xfrm flipH="false" flipV="false" rot="0">
              <a:off x="0" y="0"/>
              <a:ext cx="17445610" cy="8602853"/>
            </a:xfrm>
            <a:custGeom>
              <a:avLst/>
              <a:gdLst/>
              <a:ahLst/>
              <a:cxnLst/>
              <a:rect r="r" b="b" t="t" l="l"/>
              <a:pathLst>
                <a:path h="8602853" w="17445610">
                  <a:moveTo>
                    <a:pt x="0" y="0"/>
                  </a:moveTo>
                  <a:lnTo>
                    <a:pt x="17445610" y="0"/>
                  </a:lnTo>
                  <a:lnTo>
                    <a:pt x="17445610" y="8602853"/>
                  </a:lnTo>
                  <a:lnTo>
                    <a:pt x="0" y="8602853"/>
                  </a:lnTo>
                  <a:lnTo>
                    <a:pt x="0" y="0"/>
                  </a:lnTo>
                  <a:close/>
                </a:path>
              </a:pathLst>
            </a:custGeom>
            <a:blipFill>
              <a:blip r:embed="rId3"/>
              <a:stretch>
                <a:fillRect l="0" t="-35" r="0" b="-35"/>
              </a:stretch>
            </a:blipFill>
          </p:spPr>
        </p:sp>
      </p:grpSp>
      <p:sp>
        <p:nvSpPr>
          <p:cNvPr name="TextBox 4" id="4"/>
          <p:cNvSpPr txBox="true"/>
          <p:nvPr/>
        </p:nvSpPr>
        <p:spPr>
          <a:xfrm rot="0">
            <a:off x="1189787" y="-2010"/>
            <a:ext cx="9666742" cy="1058094"/>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IBM Cloud Dashboard</a:t>
            </a:r>
          </a:p>
        </p:txBody>
      </p:sp>
      <p:sp>
        <p:nvSpPr>
          <p:cNvPr name="TextBox 5" id="5"/>
          <p:cNvSpPr txBox="true"/>
          <p:nvPr/>
        </p:nvSpPr>
        <p:spPr>
          <a:xfrm rot="0">
            <a:off x="1828086" y="462122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1828086" y="617409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7" id="7"/>
          <p:cNvSpPr txBox="true"/>
          <p:nvPr/>
        </p:nvSpPr>
        <p:spPr>
          <a:xfrm rot="0">
            <a:off x="1828086" y="7726966"/>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344910"/>
            <a:ext cx="9666742" cy="1570377"/>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62122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17409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726966"/>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05684"/>
            <a:ext cx="10068001" cy="100848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1359113" y="1613268"/>
            <a:ext cx="15316448" cy="6854104"/>
            <a:chOff x="0" y="0"/>
            <a:chExt cx="20421930" cy="9138806"/>
          </a:xfrm>
        </p:grpSpPr>
        <p:sp>
          <p:nvSpPr>
            <p:cNvPr name="Freeform 8" id="8"/>
            <p:cNvSpPr/>
            <p:nvPr/>
          </p:nvSpPr>
          <p:spPr>
            <a:xfrm flipH="false" flipV="false" rot="0">
              <a:off x="0" y="0"/>
              <a:ext cx="20421981" cy="9138793"/>
            </a:xfrm>
            <a:custGeom>
              <a:avLst/>
              <a:gdLst/>
              <a:ahLst/>
              <a:cxnLst/>
              <a:rect r="r" b="b" t="t" l="l"/>
              <a:pathLst>
                <a:path h="9138793" w="20421981">
                  <a:moveTo>
                    <a:pt x="0" y="0"/>
                  </a:moveTo>
                  <a:lnTo>
                    <a:pt x="20421981" y="0"/>
                  </a:lnTo>
                  <a:lnTo>
                    <a:pt x="20421981" y="9138793"/>
                  </a:lnTo>
                  <a:lnTo>
                    <a:pt x="0" y="9138793"/>
                  </a:lnTo>
                  <a:lnTo>
                    <a:pt x="0" y="0"/>
                  </a:lnTo>
                  <a:close/>
                </a:path>
              </a:pathLst>
            </a:custGeom>
            <a:blipFill>
              <a:blip r:embed="rId3"/>
              <a:stretch>
                <a:fillRect l="0" t="-34" r="0" b="-34"/>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344910"/>
            <a:ext cx="9666742" cy="1570377"/>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62122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17409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726966"/>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05684"/>
            <a:ext cx="10068001" cy="100848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1028700" y="1152239"/>
            <a:ext cx="16126320" cy="7982531"/>
            <a:chOff x="0" y="0"/>
            <a:chExt cx="21501760" cy="10643375"/>
          </a:xfrm>
        </p:grpSpPr>
        <p:sp>
          <p:nvSpPr>
            <p:cNvPr name="Freeform 8" id="8"/>
            <p:cNvSpPr/>
            <p:nvPr/>
          </p:nvSpPr>
          <p:spPr>
            <a:xfrm flipH="false" flipV="false" rot="0">
              <a:off x="0" y="0"/>
              <a:ext cx="21501736" cy="10643362"/>
            </a:xfrm>
            <a:custGeom>
              <a:avLst/>
              <a:gdLst/>
              <a:ahLst/>
              <a:cxnLst/>
              <a:rect r="r" b="b" t="t" l="l"/>
              <a:pathLst>
                <a:path h="10643362" w="21501736">
                  <a:moveTo>
                    <a:pt x="0" y="0"/>
                  </a:moveTo>
                  <a:lnTo>
                    <a:pt x="21501736" y="0"/>
                  </a:lnTo>
                  <a:lnTo>
                    <a:pt x="21501736" y="10643362"/>
                  </a:lnTo>
                  <a:lnTo>
                    <a:pt x="0" y="10643362"/>
                  </a:lnTo>
                  <a:lnTo>
                    <a:pt x="0" y="0"/>
                  </a:lnTo>
                  <a:close/>
                </a:path>
              </a:pathLst>
            </a:custGeom>
            <a:blipFill>
              <a:blip r:embed="rId3"/>
              <a:stretch>
                <a:fillRect l="0" t="-26" r="0" b="-26"/>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3715" y="-344910"/>
            <a:ext cx="9666742" cy="1570377"/>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 Project Output Screenshot</a:t>
            </a:r>
          </a:p>
        </p:txBody>
      </p:sp>
      <p:sp>
        <p:nvSpPr>
          <p:cNvPr name="TextBox 3" id="3"/>
          <p:cNvSpPr txBox="true"/>
          <p:nvPr/>
        </p:nvSpPr>
        <p:spPr>
          <a:xfrm rot="0">
            <a:off x="1828086" y="462122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617409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7726966"/>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2093976" y="2805684"/>
            <a:ext cx="10068001" cy="1008488"/>
          </a:xfrm>
          <a:prstGeom prst="rect">
            <a:avLst/>
          </a:prstGeom>
        </p:spPr>
        <p:txBody>
          <a:bodyPr anchor="t" rtlCol="false" tIns="0" lIns="0" bIns="0" rIns="0">
            <a:spAutoFit/>
          </a:bodyPr>
          <a:lstStyle/>
          <a:p>
            <a:pPr algn="l">
              <a:lnSpc>
                <a:spcPts val="3600"/>
              </a:lnSpc>
            </a:pPr>
            <a:r>
              <a:rPr lang="en-US" sz="3000">
                <a:solidFill>
                  <a:srgbClr val="FF0000"/>
                </a:solidFill>
                <a:latin typeface="Arial"/>
                <a:ea typeface="Arial"/>
                <a:cs typeface="Arial"/>
                <a:sym typeface="Arial"/>
              </a:rPr>
              <a:t>Please put IBM Bob output screenshots with 2-3 prompts. </a:t>
            </a:r>
          </a:p>
          <a:p>
            <a:pPr algn="l">
              <a:lnSpc>
                <a:spcPts val="3600"/>
              </a:lnSpc>
            </a:pPr>
            <a:r>
              <a:rPr lang="en-US" sz="3000">
                <a:solidFill>
                  <a:srgbClr val="FF0000"/>
                </a:solidFill>
                <a:latin typeface="Arial"/>
                <a:ea typeface="Arial"/>
                <a:cs typeface="Arial"/>
                <a:sym typeface="Arial"/>
              </a:rPr>
              <a:t>You can take 2-3 more slides for each screenshot</a:t>
            </a:r>
          </a:p>
        </p:txBody>
      </p:sp>
      <p:grpSp>
        <p:nvGrpSpPr>
          <p:cNvPr name="Group 7" id="7"/>
          <p:cNvGrpSpPr/>
          <p:nvPr/>
        </p:nvGrpSpPr>
        <p:grpSpPr>
          <a:xfrm rot="0">
            <a:off x="1436170" y="1730569"/>
            <a:ext cx="14386093" cy="7139102"/>
            <a:chOff x="0" y="0"/>
            <a:chExt cx="19181458" cy="9518802"/>
          </a:xfrm>
        </p:grpSpPr>
        <p:sp>
          <p:nvSpPr>
            <p:cNvPr name="Freeform 8" id="8"/>
            <p:cNvSpPr/>
            <p:nvPr/>
          </p:nvSpPr>
          <p:spPr>
            <a:xfrm flipH="false" flipV="false" rot="0">
              <a:off x="0" y="0"/>
              <a:ext cx="19181445" cy="9518777"/>
            </a:xfrm>
            <a:custGeom>
              <a:avLst/>
              <a:gdLst/>
              <a:ahLst/>
              <a:cxnLst/>
              <a:rect r="r" b="b" t="t" l="l"/>
              <a:pathLst>
                <a:path h="9518777" w="19181445">
                  <a:moveTo>
                    <a:pt x="0" y="0"/>
                  </a:moveTo>
                  <a:lnTo>
                    <a:pt x="19181445" y="0"/>
                  </a:lnTo>
                  <a:lnTo>
                    <a:pt x="19181445" y="9518777"/>
                  </a:lnTo>
                  <a:lnTo>
                    <a:pt x="0" y="9518777"/>
                  </a:lnTo>
                  <a:lnTo>
                    <a:pt x="0" y="0"/>
                  </a:lnTo>
                  <a:close/>
                </a:path>
              </a:pathLst>
            </a:custGeom>
            <a:blipFill>
              <a:blip r:embed="rId3"/>
              <a:stretch>
                <a:fillRect l="-3" t="0" r="-3" b="0"/>
              </a:stretch>
            </a:blipFill>
          </p:spPr>
        </p:sp>
      </p:gr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15518"/>
            <a:ext cx="10501884" cy="658206"/>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257300" y="1818132"/>
            <a:ext cx="16770096" cy="8229600"/>
          </a:xfrm>
          <a:prstGeom prst="rect">
            <a:avLst/>
          </a:prstGeom>
        </p:spPr>
        <p:txBody>
          <a:bodyPr anchor="t" rtlCol="false" tIns="0" lIns="0" bIns="0" rIns="0">
            <a:spAutoFit/>
          </a:bodyPr>
          <a:lstStyle/>
          <a:p>
            <a:pPr algn="l">
              <a:lnSpc>
                <a:spcPts val="3240"/>
              </a:lnSpc>
            </a:pPr>
            <a:r>
              <a:rPr lang="en-US" sz="2700" b="true">
                <a:solidFill>
                  <a:srgbClr val="000000"/>
                </a:solidFill>
                <a:latin typeface="Arial Bold"/>
                <a:ea typeface="Arial Bold"/>
                <a:cs typeface="Arial Bold"/>
                <a:sym typeface="Arial Bold"/>
              </a:rPr>
              <a:t>Key Innovation of DevArchitect AI</a:t>
            </a:r>
          </a:p>
          <a:p>
            <a:pPr algn="l">
              <a:lnSpc>
                <a:spcPts val="3240"/>
              </a:lnSpc>
            </a:pPr>
            <a:r>
              <a:rPr lang="en-US" sz="2700">
                <a:solidFill>
                  <a:srgbClr val="000000"/>
                </a:solidFill>
                <a:latin typeface="Arial"/>
                <a:ea typeface="Arial"/>
                <a:cs typeface="Arial"/>
                <a:sym typeface="Arial"/>
              </a:rPr>
              <a:t>The proposed DevArchitect AI stands out by combining Agentic AI, RAG, and intelligent code analysis into a single software engineering platform.</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Multi-Agent Intelligence</a:t>
            </a:r>
            <a:r>
              <a:rPr lang="en-US" sz="2700">
                <a:solidFill>
                  <a:srgbClr val="000000"/>
                </a:solidFill>
                <a:latin typeface="Arial"/>
                <a:ea typeface="Arial"/>
                <a:cs typeface="Arial"/>
                <a:sym typeface="Arial"/>
              </a:rPr>
              <a:t> – Multiple specialized AI agents collaborate to perform repository analysis, code review, security assessment, documentation generation, and architecture understanding.</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RAG-Based Repository Understanding</a:t>
            </a:r>
            <a:r>
              <a:rPr lang="en-US" sz="2700">
                <a:solidFill>
                  <a:srgbClr val="000000"/>
                </a:solidFill>
                <a:latin typeface="Arial"/>
                <a:ea typeface="Arial"/>
                <a:cs typeface="Arial"/>
                <a:sym typeface="Arial"/>
              </a:rPr>
              <a:t> – Uses Retrieval-Augmented Generation to retrieve relevant code and project context before generating accurate, repository-specific responses.</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Context-Aware Code Analysis</a:t>
            </a:r>
            <a:r>
              <a:rPr lang="en-US" sz="2700">
                <a:solidFill>
                  <a:srgbClr val="000000"/>
                </a:solidFill>
                <a:latin typeface="Arial"/>
                <a:ea typeface="Arial"/>
                <a:cs typeface="Arial"/>
                <a:sym typeface="Arial"/>
              </a:rPr>
              <a:t> – Understands project structure, programming languages, dependencies, and business logic to provide precise recommendations.</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Automated Documentation</a:t>
            </a:r>
            <a:r>
              <a:rPr lang="en-US" sz="2700">
                <a:solidFill>
                  <a:srgbClr val="000000"/>
                </a:solidFill>
                <a:latin typeface="Arial"/>
                <a:ea typeface="Arial"/>
                <a:cs typeface="Arial"/>
                <a:sym typeface="Arial"/>
              </a:rPr>
              <a:t> – Generates README files, API documentation, architecture summaries, and developer guides automatically.</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Integrated Security &amp; Performance Insights </a:t>
            </a:r>
            <a:r>
              <a:rPr lang="en-US" sz="2700">
                <a:solidFill>
                  <a:srgbClr val="000000"/>
                </a:solidFill>
                <a:latin typeface="Arial"/>
                <a:ea typeface="Arial"/>
                <a:cs typeface="Arial"/>
                <a:sym typeface="Arial"/>
              </a:rPr>
              <a:t>– Detects vulnerabilities, code quality issues, and performance bottlenecks while suggesting actionable improvements.</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Natural Language Repository Q&amp;A</a:t>
            </a:r>
            <a:r>
              <a:rPr lang="en-US" sz="2700">
                <a:solidFill>
                  <a:srgbClr val="000000"/>
                </a:solidFill>
                <a:latin typeface="Arial"/>
                <a:ea typeface="Arial"/>
                <a:cs typeface="Arial"/>
                <a:sym typeface="Arial"/>
              </a:rPr>
              <a:t> – Enables developers to interact with the entire codebase using simple natural language queries.</a:t>
            </a:r>
          </a:p>
          <a:p>
            <a:pPr algn="l" marL="617220" indent="-205740" lvl="2">
              <a:lnSpc>
                <a:spcPts val="3240"/>
              </a:lnSpc>
              <a:buFont typeface="Arial"/>
              <a:buChar char="⚬"/>
            </a:pPr>
            <a:r>
              <a:rPr lang="en-US" b="true" sz="2700">
                <a:solidFill>
                  <a:srgbClr val="000000"/>
                </a:solidFill>
                <a:latin typeface="Arial Bold"/>
                <a:ea typeface="Arial Bold"/>
                <a:cs typeface="Arial Bold"/>
                <a:sym typeface="Arial Bold"/>
              </a:rPr>
              <a:t>Scalable &amp; Enterprise-Ready</a:t>
            </a:r>
            <a:r>
              <a:rPr lang="en-US" sz="2700">
                <a:solidFill>
                  <a:srgbClr val="000000"/>
                </a:solidFill>
                <a:latin typeface="Arial"/>
                <a:ea typeface="Arial"/>
                <a:cs typeface="Arial"/>
                <a:sym typeface="Arial"/>
              </a:rPr>
              <a:t> – Built on IBM watsonx.ai with IBM Granite models, ensuring scalability, AI governance, and reliable enterprise-grade performance.</a:t>
            </a:r>
          </a:p>
          <a:p>
            <a:pPr algn="l" marL="617220" indent="-205740" lvl="2">
              <a:lnSpc>
                <a:spcPts val="3240"/>
              </a:lnSpc>
            </a:pPr>
            <a:r>
              <a:rPr lang="en-US" sz="2700">
                <a:solidFill>
                  <a:srgbClr val="000000"/>
                </a:solidFill>
                <a:latin typeface="Arial"/>
                <a:ea typeface="Arial"/>
                <a:cs typeface="Arial"/>
                <a:sym typeface="Arial"/>
              </a:rPr>
              <a:t>This makes DevArchitect AI an intelligent, proactive software engineering assistant rather than just a traditional code analysis tool.</a:t>
            </a:r>
          </a:p>
          <a:p>
            <a:pPr algn="l" marL="617220" indent="-205740" lvl="2">
              <a:lnSpc>
                <a:spcPts val="3240"/>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8598" y="131874"/>
            <a:ext cx="9666742" cy="1570377"/>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Git Hub Link</a:t>
            </a:r>
          </a:p>
        </p:txBody>
      </p:sp>
      <p:sp>
        <p:nvSpPr>
          <p:cNvPr name="TextBox 3" id="3"/>
          <p:cNvSpPr txBox="true"/>
          <p:nvPr/>
        </p:nvSpPr>
        <p:spPr>
          <a:xfrm rot="0">
            <a:off x="1888598" y="6189221"/>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88598" y="7742091"/>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88598" y="1416444"/>
            <a:ext cx="8049968" cy="832485"/>
          </a:xfrm>
          <a:prstGeom prst="rect">
            <a:avLst/>
          </a:prstGeom>
        </p:spPr>
        <p:txBody>
          <a:bodyPr anchor="t" rtlCol="false" tIns="0" lIns="0" bIns="0" rIns="0">
            <a:spAutoFit/>
          </a:bodyPr>
          <a:lstStyle/>
          <a:p>
            <a:pPr algn="ctr">
              <a:lnSpc>
                <a:spcPts val="5398"/>
              </a:lnSpc>
            </a:pPr>
            <a:r>
              <a:rPr lang="en-US" sz="2775">
                <a:solidFill>
                  <a:srgbClr val="000000"/>
                </a:solidFill>
                <a:latin typeface="Times New Roman"/>
                <a:ea typeface="Times New Roman"/>
                <a:cs typeface="Times New Roman"/>
                <a:sym typeface="Times New Roman"/>
              </a:rPr>
              <a:t>https://github.com/RISHIVARDHANRAO/DevArchitect</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8086" y="116748"/>
            <a:ext cx="9666742" cy="1570377"/>
          </a:xfrm>
          <a:prstGeom prst="rect">
            <a:avLst/>
          </a:prstGeom>
        </p:spPr>
        <p:txBody>
          <a:bodyPr anchor="t" rtlCol="false" tIns="0" lIns="0" bIns="0" rIns="0">
            <a:spAutoFit/>
          </a:bodyPr>
          <a:lstStyle/>
          <a:p>
            <a:pPr algn="l">
              <a:lnSpc>
                <a:spcPts val="6788"/>
              </a:lnSpc>
            </a:pPr>
            <a:r>
              <a:rPr lang="en-US" sz="3600" b="true">
                <a:solidFill>
                  <a:srgbClr val="000000"/>
                </a:solidFill>
                <a:latin typeface="Arial Bold"/>
                <a:ea typeface="Arial Bold"/>
                <a:cs typeface="Arial Bold"/>
                <a:sym typeface="Arial Bold"/>
              </a:rPr>
              <a:t>Future Scope </a:t>
            </a:r>
          </a:p>
        </p:txBody>
      </p:sp>
      <p:sp>
        <p:nvSpPr>
          <p:cNvPr name="TextBox 3" id="3"/>
          <p:cNvSpPr txBox="true"/>
          <p:nvPr/>
        </p:nvSpPr>
        <p:spPr>
          <a:xfrm rot="0">
            <a:off x="1828086" y="1065524"/>
            <a:ext cx="13821870" cy="8948118"/>
          </a:xfrm>
          <a:prstGeom prst="rect">
            <a:avLst/>
          </a:prstGeom>
        </p:spPr>
        <p:txBody>
          <a:bodyPr anchor="t" rtlCol="false" tIns="0" lIns="0" bIns="0" rIns="0">
            <a:spAutoFit/>
          </a:bodyPr>
          <a:lstStyle/>
          <a:p>
            <a:pPr algn="l">
              <a:lnSpc>
                <a:spcPts val="5397"/>
              </a:lnSpc>
            </a:pPr>
            <a:r>
              <a:rPr lang="en-US" sz="2775" b="true">
                <a:solidFill>
                  <a:srgbClr val="2B3541"/>
                </a:solidFill>
                <a:latin typeface="Times New Roman Bold"/>
                <a:ea typeface="Times New Roman Bold"/>
                <a:cs typeface="Times New Roman Bold"/>
                <a:sym typeface="Times New Roman Bold"/>
              </a:rPr>
              <a:t>Future Enhancements</a:t>
            </a:r>
          </a:p>
          <a:p>
            <a:pPr algn="l">
              <a:lnSpc>
                <a:spcPts val="5398"/>
              </a:lnSpc>
            </a:pPr>
            <a:r>
              <a:rPr lang="en-US" sz="2775" b="true">
                <a:solidFill>
                  <a:srgbClr val="2B3541"/>
                </a:solidFill>
                <a:latin typeface="Times New Roman Bold"/>
                <a:ea typeface="Times New Roman Bold"/>
                <a:cs typeface="Times New Roman Bold"/>
                <a:sym typeface="Times New Roman Bold"/>
              </a:rPr>
              <a:t>1. CI/CD &amp; GitHub Integration</a:t>
            </a:r>
          </a:p>
          <a:p>
            <a:pPr algn="l">
              <a:lnSpc>
                <a:spcPts val="5398"/>
              </a:lnSpc>
            </a:pPr>
            <a:r>
              <a:rPr lang="en-US" sz="2775">
                <a:solidFill>
                  <a:srgbClr val="2B3541"/>
                </a:solidFill>
                <a:latin typeface="Times New Roman"/>
                <a:ea typeface="Times New Roman"/>
                <a:cs typeface="Times New Roman"/>
                <a:sym typeface="Times New Roman"/>
              </a:rPr>
              <a:t>The system can be integrated with GitHub, GitLab, and CI/CD platforms to automatically analyze repositories on every commit or pull request. This enables continuous code review, security scanning, documentation updates, and quality checks, helping development teams maintain high code standards throughout the software lifecycle.</a:t>
            </a:r>
          </a:p>
          <a:p>
            <a:pPr algn="l">
              <a:lnSpc>
                <a:spcPts val="5397"/>
              </a:lnSpc>
            </a:pPr>
            <a:r>
              <a:rPr lang="en-US" sz="2775" b="true">
                <a:solidFill>
                  <a:srgbClr val="2B3541"/>
                </a:solidFill>
                <a:latin typeface="Times New Roman Bold"/>
                <a:ea typeface="Times New Roman Bold"/>
                <a:cs typeface="Times New Roman Bold"/>
                <a:sym typeface="Times New Roman Bold"/>
              </a:rPr>
              <a:t>2. AI Pair Programmer &amp; Team Collaboration</a:t>
            </a:r>
          </a:p>
          <a:p>
            <a:pPr algn="l">
              <a:lnSpc>
                <a:spcPts val="5398"/>
              </a:lnSpc>
            </a:pPr>
            <a:r>
              <a:rPr lang="en-US" sz="2775">
                <a:solidFill>
                  <a:srgbClr val="2B3541"/>
                </a:solidFill>
                <a:latin typeface="Times New Roman"/>
                <a:ea typeface="Times New Roman"/>
                <a:cs typeface="Times New Roman"/>
                <a:sym typeface="Times New Roman"/>
              </a:rPr>
              <a:t>DevArchitect AI can be enhanced with an AI-powered coding assistant that provides real-time code suggestions, bug fixes, refactoring recommendations, and test case generation within popular IDEs. Team collaboration features such as shared repository insights, review history, and personalized developer recommendations can further improve productivity and streamline software development.</a:t>
            </a:r>
          </a:p>
          <a:p>
            <a:pPr algn="l">
              <a:lnSpc>
                <a:spcPts val="5397"/>
              </a:lnSpc>
            </a:pPr>
          </a:p>
        </p:txBody>
      </p:sp>
      <p:sp>
        <p:nvSpPr>
          <p:cNvPr name="TextBox 4" id="4"/>
          <p:cNvSpPr txBox="true"/>
          <p:nvPr/>
        </p:nvSpPr>
        <p:spPr>
          <a:xfrm rot="0">
            <a:off x="1828086" y="462122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828086" y="6174095"/>
            <a:ext cx="11202829" cy="1568167"/>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
        <p:nvSpPr>
          <p:cNvPr name="TextBox 6" id="6"/>
          <p:cNvSpPr txBox="true"/>
          <p:nvPr/>
        </p:nvSpPr>
        <p:spPr>
          <a:xfrm rot="0">
            <a:off x="1828086" y="7726966"/>
            <a:ext cx="11202829" cy="993638"/>
          </a:xfrm>
          <a:prstGeom prst="rect">
            <a:avLst/>
          </a:prstGeom>
        </p:spPr>
        <p:txBody>
          <a:bodyPr anchor="t" rtlCol="false" tIns="0" lIns="0" bIns="0" rIns="0">
            <a:spAutoFit/>
          </a:bodyPr>
          <a:lstStyle/>
          <a:p>
            <a:pPr algn="l">
              <a:lnSpc>
                <a:spcPts val="5398"/>
              </a:lnSpc>
            </a:pPr>
            <a:r>
              <a:rPr lang="en-US" sz="2775">
                <a:solidFill>
                  <a:srgbClr val="2B3541"/>
                </a:solidFill>
                <a:latin typeface="Times New Roman"/>
                <a:ea typeface="Times New Roman"/>
                <a:cs typeface="Times New Roman"/>
                <a:sym typeface="Times New Roman"/>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03519" y="1555680"/>
            <a:ext cx="10154431" cy="7743234"/>
            <a:chOff x="0" y="0"/>
            <a:chExt cx="13539241" cy="10324313"/>
          </a:xfrm>
        </p:grpSpPr>
        <p:sp>
          <p:nvSpPr>
            <p:cNvPr name="Freeform 3" id="3"/>
            <p:cNvSpPr/>
            <p:nvPr/>
          </p:nvSpPr>
          <p:spPr>
            <a:xfrm flipH="false" flipV="false" rot="0">
              <a:off x="0" y="0"/>
              <a:ext cx="13539215" cy="10324338"/>
            </a:xfrm>
            <a:custGeom>
              <a:avLst/>
              <a:gdLst/>
              <a:ahLst/>
              <a:cxnLst/>
              <a:rect r="r" b="b" t="t" l="l"/>
              <a:pathLst>
                <a:path h="10324338" w="13539215">
                  <a:moveTo>
                    <a:pt x="0" y="0"/>
                  </a:moveTo>
                  <a:lnTo>
                    <a:pt x="13539215" y="0"/>
                  </a:lnTo>
                  <a:lnTo>
                    <a:pt x="13539215" y="10324338"/>
                  </a:lnTo>
                  <a:lnTo>
                    <a:pt x="0" y="10324338"/>
                  </a:lnTo>
                  <a:lnTo>
                    <a:pt x="0" y="0"/>
                  </a:lnTo>
                  <a:close/>
                </a:path>
              </a:pathLst>
            </a:custGeom>
            <a:blipFill>
              <a:blip r:embed="rId2"/>
              <a:stretch>
                <a:fillRect l="-820" t="0" r="-820" b="0"/>
              </a:stretch>
            </a:blipFill>
          </p:spPr>
        </p:sp>
      </p:grpSp>
      <p:sp>
        <p:nvSpPr>
          <p:cNvPr name="TextBox 4" id="4"/>
          <p:cNvSpPr txBox="true"/>
          <p:nvPr/>
        </p:nvSpPr>
        <p:spPr>
          <a:xfrm rot="0">
            <a:off x="583368" y="299637"/>
            <a:ext cx="8961120" cy="98137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p>
          <a:p>
            <a:pPr algn="ctr">
              <a:lnSpc>
                <a:spcPts val="432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4225" y="2102663"/>
            <a:ext cx="11846500" cy="7371655"/>
            <a:chOff x="0" y="0"/>
            <a:chExt cx="15795333" cy="9828873"/>
          </a:xfrm>
        </p:grpSpPr>
        <p:sp>
          <p:nvSpPr>
            <p:cNvPr name="Freeform 3" id="3"/>
            <p:cNvSpPr/>
            <p:nvPr/>
          </p:nvSpPr>
          <p:spPr>
            <a:xfrm flipH="false" flipV="false" rot="0">
              <a:off x="0" y="0"/>
              <a:ext cx="15795371" cy="9828911"/>
            </a:xfrm>
            <a:custGeom>
              <a:avLst/>
              <a:gdLst/>
              <a:ahLst/>
              <a:cxnLst/>
              <a:rect r="r" b="b" t="t" l="l"/>
              <a:pathLst>
                <a:path h="9828911" w="15795371">
                  <a:moveTo>
                    <a:pt x="0" y="0"/>
                  </a:moveTo>
                  <a:lnTo>
                    <a:pt x="15795371" y="0"/>
                  </a:lnTo>
                  <a:lnTo>
                    <a:pt x="15795371" y="9828911"/>
                  </a:lnTo>
                  <a:lnTo>
                    <a:pt x="0" y="9828911"/>
                  </a:lnTo>
                  <a:lnTo>
                    <a:pt x="0" y="0"/>
                  </a:lnTo>
                  <a:close/>
                </a:path>
              </a:pathLst>
            </a:custGeom>
            <a:blipFill>
              <a:blip r:embed="rId2"/>
              <a:stretch>
                <a:fillRect l="0" t="0" r="0" b="0"/>
              </a:stretch>
            </a:blipFill>
          </p:spPr>
        </p:sp>
      </p:grpSp>
      <p:sp>
        <p:nvSpPr>
          <p:cNvPr name="TextBox 4" id="4"/>
          <p:cNvSpPr txBox="true"/>
          <p:nvPr/>
        </p:nvSpPr>
        <p:spPr>
          <a:xfrm rot="0">
            <a:off x="356483" y="328155"/>
            <a:ext cx="8961120" cy="98137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Certificates Earned:</a:t>
            </a:r>
            <a:r>
              <a:rPr lang="en-US" sz="3600">
                <a:solidFill>
                  <a:srgbClr val="000000"/>
                </a:solidFill>
                <a:latin typeface="Arial"/>
                <a:ea typeface="Arial"/>
                <a:cs typeface="Arial"/>
                <a:sym typeface="Arial"/>
              </a:rPr>
              <a:t>​</a:t>
            </a:r>
          </a:p>
          <a:p>
            <a:pPr algn="ctr">
              <a:lnSpc>
                <a:spcPts val="4320"/>
              </a:lnSpc>
            </a:pPr>
          </a:p>
        </p:txBody>
      </p:sp>
      <p:sp>
        <p:nvSpPr>
          <p:cNvPr name="TextBox 5" id="5"/>
          <p:cNvSpPr txBox="true"/>
          <p:nvPr/>
        </p:nvSpPr>
        <p:spPr>
          <a:xfrm rot="0">
            <a:off x="836705" y="1208322"/>
            <a:ext cx="7973644" cy="546821"/>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Add your IBM BOB Certificate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84"/>
            <a:chOff x="0" y="0"/>
            <a:chExt cx="24384000" cy="4954778"/>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DAHPvdSzt8k</dc:identifier>
  <dcterms:modified xsi:type="dcterms:W3CDTF">2011-08-01T06:04:30Z</dcterms:modified>
  <cp:revision>1</cp:revision>
  <dc:title>DEV-ARCHITECT.pptx</dc:title>
</cp:coreProperties>
</file>